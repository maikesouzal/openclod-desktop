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Receita</c:v>
                </c:pt>
              </c:strCache>
            </c:strRef>
          </c:tx>
          <c:spPr>
            <a:solidFill>
              <a:srgbClr val="1F4E79"/>
            </a:solidFill>
          </c:spPr>
          <c:cat>
            <c:strRef>
              <c:f>Sheet1!$A$2:$A$4</c:f>
              <c:strCache>
                <c:ptCount val="3"/>
                <c:pt idx="0">
                  <c:v>Nordeste</c:v>
                </c:pt>
                <c:pt idx="1">
                  <c:v>Sul</c:v>
                </c:pt>
                <c:pt idx="2">
                  <c:v>Sudeste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220182.0</c:v>
                </c:pt>
                <c:pt idx="1">
                  <c:v>212195.0</c:v>
                </c:pt>
                <c:pt idx="2">
                  <c:v>207000.0</c:v>
                </c:pt>
              </c:numCache>
            </c:numRef>
          </c:val>
        </c:ser>
        <c:dLbls>
          <c:numFmt formatCode="&quot;R$&quot; #,##0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>
              <a:solidFill>
                <a:srgbClr val="D9D9D9"/>
              </a:solidFill>
            </a:ln>
          </c:spPr>
        </c:majorGridlines>
        <c:numFmt formatCode="&quot;R$&quot; 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Abertura: o período e o objetivo da reunião.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Comece pelos números principais e depois abra por região.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Gráfico nativo: dá para editar os dados no PowerPoint.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Fechar pedindo as decisões.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920240"/>
            <a:ext cx="10545775" cy="1645920"/>
          </a:xfrm>
        </p:spPr>
        <p:txBody>
          <a:bodyPr wrap="square" anchor="b"/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Resultados de vendas — 1º semestre de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3977639"/>
            <a:ext cx="10545775" cy="1188720"/>
          </a:xfrm>
        </p:spPr>
        <p:txBody>
          <a:bodyPr wrap="square" anchor="t"/>
          <a:lstStyle/>
          <a:p>
            <a:pPr algn="l"/>
            <a:r>
              <a:rPr sz="2200" b="0">
                <a:solidFill>
                  <a:srgbClr val="D2DCE4"/>
                </a:solidFill>
                <a:latin typeface="Calibri"/>
              </a:rPr>
              <a:t>Diretoria Comercial · Preparado pela Equipe Alfa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3730752"/>
            <a:ext cx="1280160" cy="64008"/>
          </a:xfrm>
          <a:prstGeom prst="rect">
            <a:avLst/>
          </a:prstGeom>
          <a:solidFill>
            <a:srgbClr val="BCC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384048"/>
            <a:ext cx="11002975" cy="914400"/>
          </a:xfrm>
        </p:spPr>
        <p:txBody>
          <a:bodyPr wrap="square" anchor="ctr">
            <a:noAutofit/>
          </a:bodyPr>
          <a:lstStyle/>
          <a:p>
            <a:pPr algn="l"/>
            <a:r>
              <a:rPr sz="3000" b="1">
                <a:solidFill>
                  <a:srgbClr val="262626"/>
                </a:solidFill>
                <a:latin typeface="Calibri"/>
              </a:rPr>
              <a:t>Os números do período</a:t>
            </a:r>
          </a:p>
        </p:txBody>
      </p:sp>
      <p:sp>
        <p:nvSpPr>
          <p:cNvPr id="3" name="Faixa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ndicador 1"/>
          <p:cNvSpPr/>
          <p:nvPr/>
        </p:nvSpPr>
        <p:spPr>
          <a:xfrm>
            <a:off x="594360" y="1508760"/>
            <a:ext cx="2545003" cy="1874519"/>
          </a:xfrm>
          <a:prstGeom prst="roundRect">
            <a:avLst>
              <a:gd name="adj" fmla="val 6000"/>
            </a:avLst>
          </a:prstGeom>
          <a:solidFill>
            <a:srgbClr val="EDF1F4"/>
          </a:solidFill>
          <a:ln>
            <a:solidFill>
              <a:srgbClr val="C7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F4E79"/>
                </a:solidFill>
                <a:latin typeface="Calibri"/>
              </a:rPr>
              <a:t>R$ 639.377</a:t>
            </a:r>
          </a:p>
          <a:p>
            <a:pPr algn="ctr"/>
            <a:r>
              <a:rPr sz="1500" b="0">
                <a:solidFill>
                  <a:srgbClr val="404040"/>
                </a:solidFill>
                <a:latin typeface="Calibri"/>
              </a:rPr>
              <a:t>Receita total</a:t>
            </a:r>
          </a:p>
        </p:txBody>
      </p:sp>
      <p:sp>
        <p:nvSpPr>
          <p:cNvPr id="5" name="Indicador 2"/>
          <p:cNvSpPr/>
          <p:nvPr/>
        </p:nvSpPr>
        <p:spPr>
          <a:xfrm>
            <a:off x="3413683" y="1508760"/>
            <a:ext cx="2545003" cy="1874519"/>
          </a:xfrm>
          <a:prstGeom prst="roundRect">
            <a:avLst>
              <a:gd name="adj" fmla="val 6000"/>
            </a:avLst>
          </a:prstGeom>
          <a:solidFill>
            <a:srgbClr val="EDF1F4"/>
          </a:solidFill>
          <a:ln>
            <a:solidFill>
              <a:srgbClr val="C7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F4E79"/>
                </a:solidFill>
                <a:latin typeface="Calibri"/>
              </a:rPr>
              <a:t>R$ 480.000</a:t>
            </a:r>
          </a:p>
          <a:p>
            <a:pPr algn="ctr"/>
            <a:r>
              <a:rPr sz="1500" b="0">
                <a:solidFill>
                  <a:srgbClr val="404040"/>
                </a:solidFill>
                <a:latin typeface="Calibri"/>
              </a:rPr>
              <a:t>Meta</a:t>
            </a:r>
          </a:p>
        </p:txBody>
      </p:sp>
      <p:sp>
        <p:nvSpPr>
          <p:cNvPr id="6" name="Indicador 3"/>
          <p:cNvSpPr/>
          <p:nvPr/>
        </p:nvSpPr>
        <p:spPr>
          <a:xfrm>
            <a:off x="6233007" y="1508760"/>
            <a:ext cx="2545003" cy="1874519"/>
          </a:xfrm>
          <a:prstGeom prst="roundRect">
            <a:avLst>
              <a:gd name="adj" fmla="val 6000"/>
            </a:avLst>
          </a:prstGeom>
          <a:solidFill>
            <a:srgbClr val="EDF1F4"/>
          </a:solidFill>
          <a:ln>
            <a:solidFill>
              <a:srgbClr val="C7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4000" b="1">
                <a:solidFill>
                  <a:srgbClr val="1F4E79"/>
                </a:solidFill>
                <a:latin typeface="Calibri"/>
              </a:rPr>
              <a:t>133%</a:t>
            </a:r>
          </a:p>
          <a:p>
            <a:pPr algn="ctr"/>
            <a:r>
              <a:rPr sz="1500" b="0">
                <a:solidFill>
                  <a:srgbClr val="404040"/>
                </a:solidFill>
                <a:latin typeface="Calibri"/>
              </a:rPr>
              <a:t>Atingimento</a:t>
            </a:r>
          </a:p>
        </p:txBody>
      </p:sp>
      <p:sp>
        <p:nvSpPr>
          <p:cNvPr id="7" name="Indicador 4"/>
          <p:cNvSpPr/>
          <p:nvPr/>
        </p:nvSpPr>
        <p:spPr>
          <a:xfrm>
            <a:off x="9052331" y="1508760"/>
            <a:ext cx="2545003" cy="1874519"/>
          </a:xfrm>
          <a:prstGeom prst="roundRect">
            <a:avLst>
              <a:gd name="adj" fmla="val 6000"/>
            </a:avLst>
          </a:prstGeom>
          <a:solidFill>
            <a:srgbClr val="EDF1F4"/>
          </a:solidFill>
          <a:ln>
            <a:solidFill>
              <a:srgbClr val="C7D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F4E79"/>
                </a:solidFill>
                <a:latin typeface="Calibri"/>
              </a:rPr>
              <a:t>R$ 106.563</a:t>
            </a:r>
          </a:p>
          <a:p>
            <a:pPr algn="ctr"/>
            <a:r>
              <a:rPr sz="1500" b="0">
                <a:solidFill>
                  <a:srgbClr val="404040"/>
                </a:solidFill>
                <a:latin typeface="Calibri"/>
              </a:rPr>
              <a:t>Média mensal</a:t>
            </a:r>
          </a:p>
        </p:txBody>
      </p:sp>
      <p:sp>
        <p:nvSpPr>
          <p:cNvPr id="8" name="Leitura"/>
          <p:cNvSpPr txBox="1"/>
          <p:nvPr/>
        </p:nvSpPr>
        <p:spPr>
          <a:xfrm>
            <a:off x="594360" y="3749039"/>
            <a:ext cx="11002975" cy="24231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07340" indent="-307340">
              <a:spcAft>
                <a:spcPts val="800"/>
              </a:spcAft>
              <a:buClr>
                <a:srgbClr val="1F4E79"/>
              </a:buClr>
              <a:buFont typeface="Arial"/>
              <a:buChar char="•"/>
            </a:pPr>
            <a:r>
              <a:rPr sz="2200" b="0">
                <a:solidFill>
                  <a:srgbClr val="262626"/>
                </a:solidFill>
                <a:latin typeface="Calibri"/>
              </a:rPr>
              <a:t>A receita fechou </a:t>
            </a:r>
            <a:r>
              <a:rPr sz="2200" b="1">
                <a:solidFill>
                  <a:srgbClr val="262626"/>
                </a:solidFill>
                <a:latin typeface="Calibri"/>
              </a:rPr>
              <a:t>133%</a:t>
            </a:r>
            <a:r>
              <a:rPr sz="2200" b="0">
                <a:solidFill>
                  <a:srgbClr val="262626"/>
                </a:solidFill>
                <a:latin typeface="Calibri"/>
              </a:rPr>
              <a:t> da meta</a:t>
            </a:r>
          </a:p>
          <a:p>
            <a:pPr marL="307340" indent="-307340">
              <a:spcAft>
                <a:spcPts val="800"/>
              </a:spcAft>
              <a:buClr>
                <a:srgbClr val="1F4E79"/>
              </a:buClr>
              <a:buFont typeface="Arial"/>
              <a:buChar char="•"/>
            </a:pPr>
            <a:r>
              <a:rPr sz="2200" b="0">
                <a:solidFill>
                  <a:srgbClr val="262626"/>
                </a:solidFill>
                <a:latin typeface="Calibri"/>
              </a:rPr>
              <a:t>A melhor região foi </a:t>
            </a:r>
            <a:r>
              <a:rPr sz="2200" b="1">
                <a:solidFill>
                  <a:srgbClr val="262626"/>
                </a:solidFill>
                <a:latin typeface="Calibri"/>
              </a:rPr>
              <a:t>Nordeste</a:t>
            </a:r>
          </a:p>
        </p:txBody>
      </p:sp>
      <p:sp>
        <p:nvSpPr>
          <p:cNvPr id="9" name="Rodapé"/>
          <p:cNvSpPr txBox="1"/>
          <p:nvPr/>
        </p:nvSpPr>
        <p:spPr>
          <a:xfrm>
            <a:off x="594360" y="6382512"/>
            <a:ext cx="731520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 b="0">
                <a:solidFill>
                  <a:srgbClr val="7F7F7F"/>
                </a:solidFill>
                <a:latin typeface="Calibri"/>
              </a:rPr>
              <a:t>Preparado pela Equipe Alfa</a:t>
            </a:r>
          </a:p>
        </p:txBody>
      </p:sp>
      <p:sp>
        <p:nvSpPr>
          <p:cNvPr id="10" name="Número do slide"/>
          <p:cNvSpPr txBox="1"/>
          <p:nvPr/>
        </p:nvSpPr>
        <p:spPr>
          <a:xfrm>
            <a:off x="10134295" y="6382512"/>
            <a:ext cx="146304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100" b="0">
                <a:solidFill>
                  <a:srgbClr val="7F7F7F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384048"/>
            <a:ext cx="11002975" cy="914400"/>
          </a:xfrm>
        </p:spPr>
        <p:txBody>
          <a:bodyPr wrap="square" anchor="ctr">
            <a:noAutofit/>
          </a:bodyPr>
          <a:lstStyle/>
          <a:p>
            <a:pPr algn="l"/>
            <a:r>
              <a:rPr sz="3000" b="1">
                <a:solidFill>
                  <a:srgbClr val="262626"/>
                </a:solidFill>
                <a:latin typeface="Calibri"/>
              </a:rPr>
              <a:t>Receita por região</a:t>
            </a:r>
          </a:p>
        </p:txBody>
      </p:sp>
      <p:sp>
        <p:nvSpPr>
          <p:cNvPr id="3" name="Faixa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Gráfico"/>
          <p:cNvGraphicFramePr>
            <a:graphicFrameLocks noGrp="1"/>
          </p:cNvGraphicFramePr>
          <p:nvPr/>
        </p:nvGraphicFramePr>
        <p:xfrm>
          <a:off x="594360" y="1508760"/>
          <a:ext cx="6821844" cy="46634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Leitura"/>
          <p:cNvSpPr txBox="1"/>
          <p:nvPr/>
        </p:nvSpPr>
        <p:spPr>
          <a:xfrm>
            <a:off x="7690524" y="1691639"/>
            <a:ext cx="3906810" cy="4297679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07340" indent="-307340">
              <a:spcAft>
                <a:spcPts val="800"/>
              </a:spcAft>
              <a:buClr>
                <a:srgbClr val="1F4E79"/>
              </a:buClr>
              <a:buFont typeface="Arial"/>
              <a:buChar char="•"/>
            </a:pPr>
            <a:r>
              <a:rPr sz="2200" b="1">
                <a:solidFill>
                  <a:srgbClr val="262626"/>
                </a:solidFill>
                <a:latin typeface="Calibri"/>
              </a:rPr>
              <a:t>Nordeste</a:t>
            </a:r>
            <a:r>
              <a:rPr sz="2200" b="0">
                <a:solidFill>
                  <a:srgbClr val="262626"/>
                </a:solidFill>
                <a:latin typeface="Calibri"/>
              </a:rPr>
              <a:t> lidera com 34% do total</a:t>
            </a:r>
          </a:p>
          <a:p>
            <a:pPr marL="307340" indent="-307340">
              <a:spcAft>
                <a:spcPts val="800"/>
              </a:spcAft>
              <a:buClr>
                <a:srgbClr val="1F4E79"/>
              </a:buClr>
              <a:buFont typeface="Arial"/>
              <a:buChar char="•"/>
            </a:pPr>
            <a:r>
              <a:rPr sz="2200" b="0">
                <a:solidFill>
                  <a:srgbClr val="262626"/>
                </a:solidFill>
                <a:latin typeface="Calibri"/>
              </a:rPr>
              <a:t>Diferença entre a maior e a menor: R$ 13.182</a:t>
            </a:r>
          </a:p>
        </p:txBody>
      </p:sp>
      <p:sp>
        <p:nvSpPr>
          <p:cNvPr id="6" name="Rodapé"/>
          <p:cNvSpPr txBox="1"/>
          <p:nvPr/>
        </p:nvSpPr>
        <p:spPr>
          <a:xfrm>
            <a:off x="594360" y="6382512"/>
            <a:ext cx="731520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 b="0">
                <a:solidFill>
                  <a:srgbClr val="7F7F7F"/>
                </a:solidFill>
                <a:latin typeface="Calibri"/>
              </a:rPr>
              <a:t>Preparado pela Equipe Alfa</a:t>
            </a:r>
          </a:p>
        </p:txBody>
      </p:sp>
      <p:sp>
        <p:nvSpPr>
          <p:cNvPr id="7" name="Número do slide"/>
          <p:cNvSpPr txBox="1"/>
          <p:nvPr/>
        </p:nvSpPr>
        <p:spPr>
          <a:xfrm>
            <a:off x="10134295" y="6382512"/>
            <a:ext cx="146304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100" b="0">
                <a:solidFill>
                  <a:srgbClr val="7F7F7F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384048"/>
            <a:ext cx="11002975" cy="914400"/>
          </a:xfrm>
        </p:spPr>
        <p:txBody>
          <a:bodyPr wrap="square" anchor="ctr">
            <a:noAutofit/>
          </a:bodyPr>
          <a:lstStyle/>
          <a:p>
            <a:pPr algn="l"/>
            <a:r>
              <a:rPr sz="3000" b="1">
                <a:solidFill>
                  <a:srgbClr val="262626"/>
                </a:solidFill>
                <a:latin typeface="Calibri"/>
              </a:rPr>
              <a:t>Meta × realizado por região</a:t>
            </a:r>
          </a:p>
        </p:txBody>
      </p:sp>
      <p:sp>
        <p:nvSpPr>
          <p:cNvPr id="3" name="Faixa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ela"/>
          <p:cNvGraphicFramePr>
            <a:graphicFrameLocks noGrp="1"/>
          </p:cNvGraphicFramePr>
          <p:nvPr/>
        </p:nvGraphicFramePr>
        <p:xfrm>
          <a:off x="594360" y="1508760"/>
          <a:ext cx="11002972" cy="28346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50743"/>
                <a:gridCol w="2750743"/>
                <a:gridCol w="2750743"/>
                <a:gridCol w="2750743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Região</a:t>
                      </a:r>
                    </a:p>
                  </a:txBody>
                  <a:tcPr anchor="ctr" marL="109728" marR="10972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Receita</a:t>
                      </a:r>
                    </a:p>
                  </a:txBody>
                  <a:tcPr anchor="ctr" marL="109728" marR="10972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Meta</a:t>
                      </a:r>
                    </a:p>
                  </a:txBody>
                  <a:tcPr anchor="ctr" marL="109728" marR="10972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Atingimento</a:t>
                      </a:r>
                    </a:p>
                  </a:txBody>
                  <a:tcPr anchor="ctr" marL="109728" marR="109728">
                    <a:solidFill>
                      <a:srgbClr val="1F4E7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Nordeste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R$ 220.182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R$ 130.000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169,4%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Sul</a:t>
                      </a:r>
                    </a:p>
                  </a:txBody>
                  <a:tcPr anchor="ctr" marL="109728" marR="10972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R$ 212.195</a:t>
                      </a:r>
                    </a:p>
                  </a:txBody>
                  <a:tcPr anchor="ctr" marL="109728" marR="10972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R$ 150.000</a:t>
                      </a:r>
                    </a:p>
                  </a:txBody>
                  <a:tcPr anchor="ctr" marL="109728" marR="109728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141,5%</a:t>
                      </a:r>
                    </a:p>
                  </a:txBody>
                  <a:tcPr anchor="ctr" marL="109728" marR="109728">
                    <a:solidFill>
                      <a:srgbClr val="F2F4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Sudeste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R$ 207.000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R$ 200.000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0">
                          <a:solidFill>
                            <a:srgbClr val="262626"/>
                          </a:solidFill>
                          <a:latin typeface="Calibri"/>
                        </a:rPr>
                        <a:t>103,5%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262626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anchor="ctr" marL="109728" marR="109728">
                    <a:solidFill>
                      <a:srgbClr val="D7DF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262626"/>
                          </a:solidFill>
                          <a:latin typeface="Calibri"/>
                        </a:rPr>
                        <a:t>R$ 639.377</a:t>
                      </a:r>
                    </a:p>
                  </a:txBody>
                  <a:tcPr anchor="ctr" marL="109728" marR="109728">
                    <a:solidFill>
                      <a:srgbClr val="D7DF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262626"/>
                          </a:solidFill>
                          <a:latin typeface="Calibri"/>
                        </a:rPr>
                        <a:t>R$ 480.000</a:t>
                      </a:r>
                    </a:p>
                  </a:txBody>
                  <a:tcPr anchor="ctr" marL="109728" marR="109728">
                    <a:solidFill>
                      <a:srgbClr val="D7DFE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>
                          <a:solidFill>
                            <a:srgbClr val="262626"/>
                          </a:solidFill>
                          <a:latin typeface="Calibri"/>
                        </a:rPr>
                        <a:t>133,2%</a:t>
                      </a:r>
                    </a:p>
                  </a:txBody>
                  <a:tcPr anchor="ctr" marL="109728" marR="109728">
                    <a:solidFill>
                      <a:srgbClr val="D7DFE7"/>
                    </a:solidFill>
                  </a:tcPr>
                </a:tc>
              </a:tr>
            </a:tbl>
          </a:graphicData>
        </a:graphic>
      </p:graphicFrame>
      <p:sp>
        <p:nvSpPr>
          <p:cNvPr id="5" name="Rodapé"/>
          <p:cNvSpPr txBox="1"/>
          <p:nvPr/>
        </p:nvSpPr>
        <p:spPr>
          <a:xfrm>
            <a:off x="594360" y="6382512"/>
            <a:ext cx="731520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 b="0">
                <a:solidFill>
                  <a:srgbClr val="7F7F7F"/>
                </a:solidFill>
                <a:latin typeface="Calibri"/>
              </a:rPr>
              <a:t>Preparado pela Equipe Alfa</a:t>
            </a:r>
          </a:p>
        </p:txBody>
      </p:sp>
      <p:sp>
        <p:nvSpPr>
          <p:cNvPr id="6" name="Número do slide"/>
          <p:cNvSpPr txBox="1"/>
          <p:nvPr/>
        </p:nvSpPr>
        <p:spPr>
          <a:xfrm>
            <a:off x="10134295" y="6382512"/>
            <a:ext cx="146304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100" b="0">
                <a:solidFill>
                  <a:srgbClr val="7F7F7F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384048"/>
            <a:ext cx="11002975" cy="914400"/>
          </a:xfrm>
        </p:spPr>
        <p:txBody>
          <a:bodyPr wrap="square" anchor="ctr">
            <a:noAutofit/>
          </a:bodyPr>
          <a:lstStyle/>
          <a:p>
            <a:pPr algn="l"/>
            <a:r>
              <a:rPr sz="3000" b="1">
                <a:solidFill>
                  <a:srgbClr val="262626"/>
                </a:solidFill>
                <a:latin typeface="Calibri"/>
              </a:rPr>
              <a:t>Decisões e próximos passos</a:t>
            </a:r>
          </a:p>
        </p:txBody>
      </p:sp>
      <p:sp>
        <p:nvSpPr>
          <p:cNvPr id="3" name="Faixa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staque"/>
          <p:cNvSpPr txBox="1"/>
          <p:nvPr/>
        </p:nvSpPr>
        <p:spPr>
          <a:xfrm>
            <a:off x="594360" y="1508760"/>
            <a:ext cx="11002975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000" b="1">
                <a:solidFill>
                  <a:srgbClr val="1F4E79"/>
                </a:solidFill>
                <a:latin typeface="Calibri"/>
              </a:rPr>
              <a:t>Frentes para o próximo ciclo</a:t>
            </a:r>
          </a:p>
        </p:txBody>
      </p:sp>
      <p:sp>
        <p:nvSpPr>
          <p:cNvPr id="5" name="Tópicos"/>
          <p:cNvSpPr txBox="1"/>
          <p:nvPr/>
        </p:nvSpPr>
        <p:spPr>
          <a:xfrm>
            <a:off x="594360" y="2286000"/>
            <a:ext cx="11002975" cy="3886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63220" indent="-363220">
              <a:spcAft>
                <a:spcPts val="800"/>
              </a:spcAft>
              <a:buClr>
                <a:srgbClr val="1F4E79"/>
              </a:buClr>
              <a:buFont typeface="Arial"/>
              <a:buChar char="•"/>
            </a:pPr>
            <a:r>
              <a:rPr sz="2600" b="0">
                <a:solidFill>
                  <a:srgbClr val="262626"/>
                </a:solidFill>
                <a:latin typeface="Calibri"/>
              </a:rPr>
              <a:t>Priorizar o Plano Pro no Sudeste, região de maior ticket.</a:t>
            </a:r>
          </a:p>
          <a:p>
            <a:pPr marL="363220" indent="-363220">
              <a:spcAft>
                <a:spcPts val="800"/>
              </a:spcAft>
              <a:buClr>
                <a:srgbClr val="1F4E79"/>
              </a:buClr>
              <a:buFont typeface="Arial"/>
              <a:buChar char="•"/>
            </a:pPr>
            <a:r>
              <a:rPr sz="2600" b="0">
                <a:solidFill>
                  <a:srgbClr val="262626"/>
                </a:solidFill>
                <a:latin typeface="Calibri"/>
              </a:rPr>
              <a:t>Revisar o preço do Plano Básico no Nordeste.</a:t>
            </a:r>
          </a:p>
          <a:p>
            <a:pPr marL="363220" indent="-363220">
              <a:spcAft>
                <a:spcPts val="800"/>
              </a:spcAft>
              <a:buClr>
                <a:srgbClr val="1F4E79"/>
              </a:buClr>
              <a:buFont typeface="Arial"/>
              <a:buChar char="•"/>
            </a:pPr>
            <a:r>
              <a:rPr sz="2600" b="0">
                <a:solidFill>
                  <a:srgbClr val="262626"/>
                </a:solidFill>
                <a:latin typeface="Calibri"/>
              </a:rPr>
              <a:t>Abrir canal de vendas online no Sul (Beto até 31/07).</a:t>
            </a:r>
          </a:p>
          <a:p>
            <a:pPr marL="363220" indent="-363220">
              <a:spcAft>
                <a:spcPts val="800"/>
              </a:spcAft>
              <a:buClr>
                <a:srgbClr val="1F4E79"/>
              </a:buClr>
              <a:buFont typeface="Arial"/>
              <a:buChar char="•"/>
            </a:pPr>
            <a:r>
              <a:rPr sz="2600" b="0">
                <a:solidFill>
                  <a:srgbClr val="262626"/>
                </a:solidFill>
                <a:latin typeface="Calibri"/>
              </a:rPr>
              <a:t>Acompanhar rampa após meta semestral já batida em 33%.</a:t>
            </a:r>
          </a:p>
        </p:txBody>
      </p:sp>
      <p:sp>
        <p:nvSpPr>
          <p:cNvPr id="6" name="Rodapé"/>
          <p:cNvSpPr txBox="1"/>
          <p:nvPr/>
        </p:nvSpPr>
        <p:spPr>
          <a:xfrm>
            <a:off x="594360" y="6382512"/>
            <a:ext cx="731520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100" b="0">
                <a:solidFill>
                  <a:srgbClr val="7F7F7F"/>
                </a:solidFill>
                <a:latin typeface="Calibri"/>
              </a:rPr>
              <a:t>Preparado pela Equipe Alfa</a:t>
            </a:r>
          </a:p>
        </p:txBody>
      </p:sp>
      <p:sp>
        <p:nvSpPr>
          <p:cNvPr id="7" name="Número do slide"/>
          <p:cNvSpPr txBox="1"/>
          <p:nvPr/>
        </p:nvSpPr>
        <p:spPr>
          <a:xfrm>
            <a:off x="10134295" y="6382512"/>
            <a:ext cx="1463040" cy="29260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/>
            <a:r>
              <a:rPr sz="1100" b="0">
                <a:solidFill>
                  <a:srgbClr val="7F7F7F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Resultados de vendas — 1º semestre de 2026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
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1F3864"/>
                </a:solidFill>
                <a:latin typeface="Calibri"/>
              </a:defRPr>
            </a:pPr>
            <a:r>
              <a:t>Receita realizada por região (R$)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(R$)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Sheet1!$A$2:$A$4</c:f>
              <c:strCache>
                <c:ptCount val="3"/>
                <c:pt idx="0">
                  <c:v>Nordeste</c:v>
                </c:pt>
                <c:pt idx="1">
                  <c:v>Sul</c:v>
                </c:pt>
                <c:pt idx="2">
                  <c:v>Sudeste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220182.0</c:v>
                </c:pt>
                <c:pt idx="1">
                  <c:v>212195.0</c:v>
                </c:pt>
                <c:pt idx="2">
                  <c:v>207000.0</c:v>
                </c:pt>
              </c:numCache>
            </c:numRef>
          </c:val>
        </c:ser>
        <c:dLbls>
          <c:numFmt formatCode="R$ #,##0" sourceLinked="0"/>
          <c:txPr>
            <a:bodyPr/>
            <a:lstStyle/>
            <a:p>
              <a:pPr>
                <a:defRPr sz="1100" b="1">
                  <a:solidFill>
                    <a:srgbClr val="1F3864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100" b="1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60000.0"/>
          <c:min val="0.0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 b="1">
                <a:solidFill>
                  <a:srgbClr val="1F3864"/>
                </a:solidFill>
                <a:latin typeface="Calibri"/>
              </a:defRPr>
            </a:pPr>
            <a:r>
              <a:t>Receita mensal (R$)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(R$)</c:v>
                </c:pt>
              </c:strCache>
            </c:strRef>
          </c:tx>
          <c:spPr>
            <a:ln w="31750">
              <a:solidFill>
                <a:srgbClr val="2E75B6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102413.0</c:v>
                </c:pt>
                <c:pt idx="1">
                  <c:v>105594.0</c:v>
                </c:pt>
                <c:pt idx="2">
                  <c:v>115675.0</c:v>
                </c:pt>
                <c:pt idx="3">
                  <c:v>102802.0</c:v>
                </c:pt>
                <c:pt idx="4">
                  <c:v>101406.0</c:v>
                </c:pt>
                <c:pt idx="5">
                  <c:v>111487.0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sz="900">
                  <a:solidFill>
                    <a:srgbClr val="1F3864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05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22000.0"/>
          <c:min val="90000.0"/>
        </c:scaling>
        <c:delete val="0"/>
        <c:axPos val="l"/>
        <c:majorGridlines>
          <c:spPr>
            <a:ln>
              <a:solidFill>
                <a:srgbClr val="E6E6E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1">
                <a:solidFill>
                  <a:srgbClr val="1F3864"/>
                </a:solidFill>
                <a:latin typeface="Calibri"/>
              </a:defRPr>
            </a:pPr>
            <a:r>
              <a:t>Receita por produto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dPt>
            <c:idx val="0"/>
            <c:spPr>
              <a:solidFill>
                <a:srgbClr val="1F3864"/>
              </a:solidFill>
            </c:spPr>
          </c:dPt>
          <c:dPt>
            <c:idx val="1"/>
            <c:spPr>
              <a:solidFill>
                <a:srgbClr val="8FB4D9"/>
              </a:solidFill>
            </c:spPr>
          </c:dPt>
          <c:cat>
            <c:strRef>
              <c:f>Sheet1!$A$2:$A$3</c:f>
              <c:strCache>
                <c:ptCount val="2"/>
                <c:pt idx="0">
                  <c:v>Plano Pro</c:v>
                </c:pt>
                <c:pt idx="1">
                  <c:v>Plano Básico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460078</c:v>
                </c:pt>
                <c:pt idx="1">
                  <c:v>179299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5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333333"/>
          </a:solidFill>
          <a:latin typeface="Calibri"/>
        </a:defRPr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2441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874519"/>
            <a:ext cx="1280160" cy="82296"/>
          </a:xfrm>
          <a:prstGeom prst="rect">
            <a:avLst/>
          </a:prstGeom>
          <a:solidFill>
            <a:srgbClr val="6FA8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9FC5E8"/>
                </a:solidFill>
                <a:latin typeface="Calibri"/>
              </a:rPr>
              <a:t>EQUIPE ALFA  ·  DIRETORIA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40280"/>
            <a:ext cx="7498079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Vendas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7498079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D6E4F0"/>
                </a:solidFill>
                <a:latin typeface="Calibri"/>
              </a:rPr>
              <a:t>Resultados do 1º semestre e perspectivas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6052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9FC5E8"/>
                </a:solidFill>
                <a:latin typeface="Calibri"/>
              </a:rPr>
              <a:t>Janeiro a junho de 2026  ·  Sul, Sudeste e Nordeste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Preparado pela Equipe Alfa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44768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9FC5E8"/>
                </a:solidFill>
                <a:latin typeface="Calibri"/>
              </a:rPr>
              <a:t>Apresentação para a diretoria  ·  27 de outubro de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14884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FC5E8"/>
                </a:solidFill>
                <a:latin typeface="Calibri"/>
              </a:rPr>
              <a:t>RECEITA NO SEMESTRE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46888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libri"/>
              </a:rPr>
              <a:t>R$ 639.377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34290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FC5E8"/>
                </a:solidFill>
                <a:latin typeface="Calibri"/>
              </a:rPr>
              <a:t>DA META DE R$ 480.000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3749039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9DD8B0"/>
                </a:solidFill>
                <a:latin typeface="Calibri"/>
              </a:rPr>
              <a:t>133,2%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461772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9FC5E8"/>
                </a:solidFill>
                <a:latin typeface="Calibri"/>
              </a:rPr>
              <a:t>UNIDADES VENDIDAS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493776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1.823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75B6"/>
                </a:solidFill>
                <a:latin typeface="Calibri"/>
              </a:rPr>
              <a:t>O QUE A DIRETORIA PRECISA SABER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864"/>
                </a:solidFill>
                <a:latin typeface="Calibri"/>
              </a:rPr>
              <a:t>Resumo executivo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Calibri"/>
              </a:rPr>
              <a:t>Preparado pela Equipe Alfa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Calibri"/>
              </a:rPr>
              <a:t>2/5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00200"/>
            <a:ext cx="64008" cy="14630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18013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95959"/>
                </a:solidFill>
                <a:latin typeface="Calibri"/>
              </a:rPr>
              <a:t>RECEITA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1832" y="2103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864"/>
                </a:solidFill>
                <a:latin typeface="Calibri"/>
              </a:rPr>
              <a:t>R$ 639.377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26243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E75B6"/>
                </a:solidFill>
                <a:latin typeface="Calibri"/>
              </a:rPr>
              <a:t>janeiro a junho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6002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1600200"/>
            <a:ext cx="64008" cy="146304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85032" y="18013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95959"/>
                </a:solidFill>
                <a:latin typeface="Calibri"/>
              </a:rPr>
              <a:t>META DO SEMESTRE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2103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864"/>
                </a:solidFill>
                <a:latin typeface="Calibri"/>
              </a:rPr>
              <a:t>R$ 480.000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85032" y="26243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F3864"/>
                </a:solidFill>
                <a:latin typeface="Calibri"/>
              </a:rPr>
              <a:t>conforme metas.txt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72200" y="1600200"/>
            <a:ext cx="64008" cy="1463040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8232" y="18013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95959"/>
                </a:solidFill>
                <a:latin typeface="Calibri"/>
              </a:rPr>
              <a:t>ATINGIMENTO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103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864"/>
                </a:solidFill>
                <a:latin typeface="Calibri"/>
              </a:rPr>
              <a:t>133,2%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2" y="26243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E7B34"/>
                </a:solidFill>
                <a:latin typeface="Calibri"/>
              </a:rPr>
              <a:t>+R$ 159.377 sobre a meta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600200"/>
            <a:ext cx="2606040" cy="146304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15400" y="1600200"/>
            <a:ext cx="64008" cy="14630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1432" y="180136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95959"/>
                </a:solidFill>
                <a:latin typeface="Calibri"/>
              </a:rPr>
              <a:t>TICKET MÉDIO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2103120"/>
            <a:ext cx="2194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864"/>
                </a:solidFill>
                <a:latin typeface="Calibri"/>
              </a:rPr>
              <a:t>R$ 351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1432" y="2624328"/>
            <a:ext cx="2194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E75B6"/>
                </a:solidFill>
                <a:latin typeface="Calibri"/>
              </a:rPr>
              <a:t>por unidade vendida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3429000"/>
            <a:ext cx="10835640" cy="2651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450">
                <a:solidFill>
                  <a:srgbClr val="1F3864"/>
                </a:solidFill>
                <a:latin typeface="Calibri"/>
              </a:rPr>
              <a:t>Meta batida nas três regiões. </a:t>
            </a:r>
            <a:r>
              <a:rPr sz="1450">
                <a:solidFill>
                  <a:srgbClr val="333333"/>
                </a:solidFill>
                <a:latin typeface="Calibri"/>
              </a:rPr>
              <a:t>R$ 639.377 contra meta de R$ 480.000 — 133,2% de atingimento e excedente de R$ 159.377.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450">
                <a:solidFill>
                  <a:srgbClr val="1F3864"/>
                </a:solidFill>
                <a:latin typeface="Calibri"/>
              </a:rPr>
              <a:t>Nordeste lidera em eficiência. </a:t>
            </a:r>
            <a:r>
              <a:rPr sz="1450">
                <a:solidFill>
                  <a:srgbClr val="333333"/>
                </a:solidFill>
                <a:latin typeface="Calibri"/>
              </a:rPr>
              <a:t>169,4% da meta com a menor meta do plano (R$ 130.000); receita de R$ 220.182.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450">
                <a:solidFill>
                  <a:srgbClr val="1F3864"/>
                </a:solidFill>
                <a:latin typeface="Calibri"/>
              </a:rPr>
              <a:t>Sudeste é o ponto de atenção. </a:t>
            </a:r>
            <a:r>
              <a:rPr sz="1450">
                <a:solidFill>
                  <a:srgbClr val="333333"/>
                </a:solidFill>
                <a:latin typeface="Calibri"/>
              </a:rPr>
              <a:t>Maior meta (R$ 200.000) e menor margem: 103,5% de atingimento, apenas R$ 7.000 acima do objetivo.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b="1" sz="1450">
                <a:solidFill>
                  <a:srgbClr val="1F3864"/>
                </a:solidFill>
                <a:latin typeface="Calibri"/>
              </a:rPr>
              <a:t>Receita estável, sem tendência de alta. </a:t>
            </a:r>
            <a:r>
              <a:rPr sz="1450">
                <a:solidFill>
                  <a:srgbClr val="333333"/>
                </a:solidFill>
                <a:latin typeface="Calibri"/>
              </a:rPr>
              <a:t>Média de R$ 106.563 por mês, com pico em março (R$ 115.675) e vale em maio (R$ 101.406).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75B6"/>
                </a:solidFill>
                <a:latin typeface="Calibri"/>
              </a:rPr>
              <a:t>TOTAL, MÉDIA MENSAL E ATINGIMENTO DA META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864"/>
                </a:solidFill>
                <a:latin typeface="Calibri"/>
              </a:rPr>
              <a:t>Receita por região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Calibri"/>
              </a:rPr>
              <a:t>Preparado pela Equipe Alfa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Calibri"/>
              </a:rPr>
              <a:t>3/5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572768"/>
          <a:ext cx="64008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78040" y="1691640"/>
          <a:ext cx="44805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234440"/>
                <a:gridCol w="1005840"/>
                <a:gridCol w="91440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Região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Receita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Média mês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Ating.</a:t>
                      </a:r>
                    </a:p>
                  </a:txBody>
                  <a:tcPr>
                    <a:solidFill>
                      <a:srgbClr val="1F386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Nordeste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R$ 220.182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R$ 36.697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7B34"/>
                          </a:solidFill>
                          <a:latin typeface="Calibri"/>
                        </a:rPr>
                        <a:t>169,4%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Sul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R$ 212.195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R$ 35.366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7B34"/>
                          </a:solidFill>
                          <a:latin typeface="Calibri"/>
                        </a:rPr>
                        <a:t>141,5%</a:t>
                      </a:r>
                    </a:p>
                  </a:txBody>
                  <a:tcPr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333333"/>
                          </a:solidFill>
                          <a:latin typeface="Calibri"/>
                        </a:rPr>
                        <a:t>Sudeste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R$ 207.000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333333"/>
                          </a:solidFill>
                          <a:latin typeface="Calibri"/>
                        </a:rPr>
                        <a:t>R$ 34.500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E7B34"/>
                          </a:solidFill>
                          <a:latin typeface="Calibri"/>
                        </a:rPr>
                        <a:t>103,5%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D9E5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R$ 639.377</a:t>
                      </a:r>
                    </a:p>
                  </a:txBody>
                  <a:tcPr>
                    <a:solidFill>
                      <a:srgbClr val="D9E5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R$ 106.563</a:t>
                      </a:r>
                    </a:p>
                  </a:txBody>
                  <a:tcPr>
                    <a:solidFill>
                      <a:srgbClr val="D9E5F3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1">
                          <a:solidFill>
                            <a:srgbClr val="1F3864"/>
                          </a:solidFill>
                          <a:latin typeface="Calibri"/>
                        </a:rPr>
                        <a:t>133,2%</a:t>
                      </a:r>
                    </a:p>
                  </a:txBody>
                  <a:tcPr>
                    <a:solidFill>
                      <a:srgbClr val="D9E5F3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178040" y="3977639"/>
            <a:ext cx="4480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F3864"/>
                </a:solidFill>
                <a:latin typeface="Calibri"/>
              </a:rPr>
              <a:t>Leitura rápida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4315968"/>
            <a:ext cx="4480560" cy="1737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Nordeste: 169,4% da meta, o melhor desempenho relativo.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Sudeste: maior receita absoluta entre as praças, mas a menor margem sobre a meta (103,5%).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100">
                <a:solidFill>
                  <a:srgbClr val="333333"/>
                </a:solidFill>
                <a:latin typeface="Calibri"/>
              </a:rPr>
              <a:t>Sul: 141,5% da meta, com a menor receita do grupo.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75B6"/>
                </a:solidFill>
                <a:latin typeface="Calibri"/>
              </a:rPr>
              <a:t>COMO A RECEITA SE DISTRIBUIU NO SEMESTRE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864"/>
                </a:solidFill>
                <a:latin typeface="Calibri"/>
              </a:rPr>
              <a:t>Evolução mensal e mix de produto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Calibri"/>
              </a:rPr>
              <a:t>Preparado pela Equipe Alfa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Calibri"/>
              </a:rPr>
              <a:t>4/5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572768"/>
          <a:ext cx="6949440" cy="3246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772400" y="1572768"/>
          <a:ext cx="393192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48640" y="498348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2F4F7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64008" cy="1143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518464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95959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486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864"/>
                </a:solidFill>
                <a:latin typeface="Calibri"/>
              </a:rPr>
              <a:t>R$ 106.563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60076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2E75B6"/>
                </a:solidFill>
                <a:latin typeface="Calibri"/>
              </a:rPr>
              <a:t>6 meses de operação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498348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E2EFDA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4983480"/>
            <a:ext cx="64008" cy="1143000"/>
          </a:xfrm>
          <a:prstGeom prst="rect">
            <a:avLst/>
          </a:prstGeom>
          <a:solidFill>
            <a:srgbClr val="1E7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62272" y="5184648"/>
            <a:ext cx="3108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95959"/>
                </a:solidFill>
                <a:latin typeface="Calibri"/>
              </a:rPr>
              <a:t>MELHOR MÊS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548640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864"/>
                </a:solidFill>
                <a:latin typeface="Calibri"/>
              </a:rPr>
              <a:t>Março · R$ 115.675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62272" y="6007608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1E7B34"/>
                </a:solidFill>
                <a:latin typeface="Calibri"/>
              </a:rPr>
              <a:t>pico do semestre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63840" y="4983480"/>
            <a:ext cx="3840480" cy="1143000"/>
          </a:xfrm>
          <a:prstGeom prst="roundRect">
            <a:avLst>
              <a:gd name="adj" fmla="val 8000"/>
            </a:avLst>
          </a:prstGeom>
          <a:solidFill>
            <a:srgbClr val="FBEFE6"/>
          </a:solidFill>
          <a:ln w="9525"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4983480"/>
            <a:ext cx="64008" cy="1143000"/>
          </a:xfrm>
          <a:prstGeom prst="rect">
            <a:avLst/>
          </a:prstGeom>
          <a:solidFill>
            <a:srgbClr val="C55A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1" y="5184648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595959"/>
                </a:solidFill>
                <a:latin typeface="Calibri"/>
              </a:rPr>
              <a:t>PESO DO PLANO PRO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9871" y="5486400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F3864"/>
                </a:solidFill>
                <a:latin typeface="Calibri"/>
              </a:rPr>
              <a:t>72,0%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9871" y="6007608"/>
            <a:ext cx="3429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C55A11"/>
                </a:solidFill>
                <a:latin typeface="Calibri"/>
              </a:rPr>
              <a:t>da receita total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8404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2E75B6"/>
                </a:solidFill>
                <a:latin typeface="Calibri"/>
              </a:rPr>
              <a:t>O QUE FAZER COM ESSES NÚMEROS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2179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1F3864"/>
                </a:solidFill>
                <a:latin typeface="Calibri"/>
              </a:rPr>
              <a:t>Conclusões e próximos passos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98448"/>
            <a:ext cx="1005840" cy="4572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Calibri"/>
              </a:rPr>
              <a:t>Preparado pela Equipe Alfa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0080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808080"/>
                </a:solidFill>
                <a:latin typeface="Calibri"/>
              </a:rPr>
              <a:t>5/5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394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75B6"/>
                </a:solidFill>
                <a:latin typeface="Calibri"/>
              </a:rPr>
              <a:t>CONCLUSÕES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349240" cy="4023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250">
                <a:solidFill>
                  <a:srgbClr val="1F3864"/>
                </a:solidFill>
                <a:latin typeface="Calibri"/>
              </a:rPr>
              <a:t>Meta superada com folga. </a:t>
            </a:r>
            <a:r>
              <a:rPr sz="1250">
                <a:solidFill>
                  <a:srgbClr val="333333"/>
                </a:solidFill>
                <a:latin typeface="Calibri"/>
              </a:rPr>
              <a:t>133,2% do objetivo semestral, com as três regiões acima de 100% — o plano de metas está calibrado com a demanda atual.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250">
                <a:solidFill>
                  <a:srgbClr val="1F3864"/>
                </a:solidFill>
                <a:latin typeface="Calibri"/>
              </a:rPr>
              <a:t>Nordeste é a praça mais eficiente. </a:t>
            </a:r>
            <a:r>
              <a:rPr sz="1250">
                <a:solidFill>
                  <a:srgbClr val="333333"/>
                </a:solidFill>
                <a:latin typeface="Calibri"/>
              </a:rPr>
              <a:t>169,4% de atingimento com a menor meta; maior excedente absoluto sobre o planejado.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250">
                <a:solidFill>
                  <a:srgbClr val="1F3864"/>
                </a:solidFill>
                <a:latin typeface="Calibri"/>
              </a:rPr>
              <a:t>Sudeste concentra o risco. </a:t>
            </a:r>
            <a:r>
              <a:rPr sz="1250">
                <a:solidFill>
                  <a:srgbClr val="333333"/>
                </a:solidFill>
                <a:latin typeface="Calibri"/>
              </a:rPr>
              <a:t>Responde pela maior meta e pela menor folga (103,5%); qualquer recuo de demanda derruba o resultado.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250">
                <a:solidFill>
                  <a:srgbClr val="1F3864"/>
                </a:solidFill>
                <a:latin typeface="Calibri"/>
              </a:rPr>
              <a:t>Receita estável, não crescente. </a:t>
            </a:r>
            <a:r>
              <a:rPr sz="1250">
                <a:solidFill>
                  <a:srgbClr val="333333"/>
                </a:solidFill>
                <a:latin typeface="Calibri"/>
              </a:rPr>
              <a:t>Pico em março e vale em abril/maio indicam demanda constante — crescer exige ação comercial, não só manutenção.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250">
                <a:solidFill>
                  <a:srgbClr val="1F3864"/>
                </a:solidFill>
                <a:latin typeface="Calibri"/>
              </a:rPr>
              <a:t>O Plano Pro sustenta o caixa. </a:t>
            </a:r>
            <a:r>
              <a:rPr sz="1250">
                <a:solidFill>
                  <a:srgbClr val="333333"/>
                </a:solidFill>
                <a:latin typeface="Calibri"/>
              </a:rPr>
              <a:t>Dois terços da receita vêm do produto premium; é a alavanca de menor esforço para o 2º semestre.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08760"/>
            <a:ext cx="5120640" cy="4526280"/>
          </a:xfrm>
          <a:prstGeom prst="roundRect">
            <a:avLst>
              <a:gd name="adj" fmla="val 5000"/>
            </a:avLst>
          </a:prstGeom>
          <a:solidFill>
            <a:srgbClr val="F2F4F7"/>
          </a:solidFill>
          <a:ln>
            <a:solidFill>
              <a:srgbClr val="E0E5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755648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75B6"/>
                </a:solidFill>
                <a:latin typeface="Calibri"/>
              </a:rPr>
              <a:t>PRÓXIMOS PASSOS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121408"/>
            <a:ext cx="4572000" cy="3657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Revisar o preço do Plano Básico no Nordeste (decisão de 03/07), com simulação de impacto no volume antes da vigência.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Reforçar o Plano Pro no Sudeste, priorizando contas de menor ticket para ampliar a folga sobre a meta.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Implantar o canal de vendas online no Sul para cobrir o vale de abril/maio.</a:t>
            </a:r>
          </a:p>
          <a:p>
            <a:pPr>
              <a:lnSpc>
                <a:spcPct val="112000"/>
              </a:lnSpc>
              <a:spcAft>
                <a:spcPts val="1000"/>
              </a:spcAft>
            </a:pPr>
            <a:r>
              <a:rPr sz="1200">
                <a:solidFill>
                  <a:srgbClr val="333333"/>
                </a:solidFill>
                <a:latin typeface="Calibri"/>
              </a:rPr>
              <a:t>Acompanhar o atingimento mensal por região em painel único, com as fórmulas da planilha analise-vendas.xlsx.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